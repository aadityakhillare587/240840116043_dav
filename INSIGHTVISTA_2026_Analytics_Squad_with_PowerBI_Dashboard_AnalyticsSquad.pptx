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0"/>
            <a:ext cx="3840480" cy="68580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548640"/>
            <a:ext cx="2286000" cy="914400"/>
          </a:xfrm>
          <a:prstGeom prst="round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23960" y="1828800"/>
            <a:ext cx="2743200" cy="1051560"/>
          </a:xfrm>
          <a:prstGeom prst="roundRect">
            <a:avLst/>
          </a:prstGeom>
          <a:solidFill>
            <a:srgbClr val="23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72600" y="3246120"/>
            <a:ext cx="2011680" cy="1371600"/>
          </a:xfrm>
          <a:prstGeom prst="roundRect">
            <a:avLst/>
          </a:prstGeom>
          <a:solidFill>
            <a:srgbClr val="23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32520" y="4983480"/>
            <a:ext cx="2743200" cy="731520"/>
          </a:xfrm>
          <a:prstGeom prst="round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7132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3C6AC"/>
                </a:solidFill>
                <a:latin typeface="Aptos"/>
              </a:defRPr>
            </a:pPr>
            <a:r>
              <a:t>INSIGHTVISTA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7498079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"/>
              </a:defRPr>
            </a:pPr>
            <a:r>
              <a:t>OLYMPIC ATHLETE</a:t>
            </a:r>
            <a:br/>
            <a:r>
              <a:t>EVENT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70408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A9B7CC"/>
                </a:solidFill>
                <a:latin typeface="Aptos"/>
              </a:defRPr>
            </a:pPr>
            <a:r>
              <a:t>From raw records to business-ready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65836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4C95D"/>
                </a:solidFill>
                <a:latin typeface="Aptos"/>
              </a:defRPr>
            </a:pPr>
            <a:r>
              <a:t>GROUP  •  Analytics Squad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224528"/>
            <a:ext cx="68580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Member 1  |  PEN: 240840116043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53712"/>
            <a:ext cx="68580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Member 2  |  PEN: 240840116049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82896"/>
            <a:ext cx="68580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Member 3  |  PEN: 240840116127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212080"/>
            <a:ext cx="68580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Member 4  |  PEN: 250843116017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41264"/>
            <a:ext cx="68580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Member 5  |  PEN: 240840116095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9B7CC"/>
                </a:solidFill>
                <a:latin typeface="Aptos"/>
              </a:defRPr>
            </a:pPr>
            <a:r>
              <a:t>Dataset: Olympic athlete events  •  Coverage: 1896–2016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01  |  Raw Data Observation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77824"/>
            <a:ext cx="777240" cy="50292"/>
          </a:xfrm>
          <a:prstGeom prst="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A9B7CC"/>
                </a:solidFill>
                <a:latin typeface="Aptos"/>
              </a:defRPr>
            </a:pPr>
            <a:r>
              <a:t>Understanding the dataset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3960" y="6510528"/>
            <a:ext cx="28346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A9B7CC"/>
                </a:solidFill>
                <a:latin typeface="Aptos"/>
              </a:defRPr>
            </a:pPr>
            <a:r>
              <a:t>INSIGHTVISTA 2026  •  02/08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874519" cy="100584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00784"/>
            <a:ext cx="154533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93391"/>
            <a:ext cx="154533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269,731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554480"/>
            <a:ext cx="1874519" cy="100584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1700784"/>
            <a:ext cx="154533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993391"/>
            <a:ext cx="154533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554480"/>
            <a:ext cx="1874519" cy="100584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700784"/>
            <a:ext cx="154533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SPORTS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1993391"/>
            <a:ext cx="154533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554480"/>
            <a:ext cx="1874519" cy="100584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1700784"/>
            <a:ext cx="154533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1993391"/>
            <a:ext cx="154533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1,184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54480"/>
            <a:ext cx="1874519" cy="100584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700784"/>
            <a:ext cx="154533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1993391"/>
            <a:ext cx="154533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1896–2016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10789920" cy="30175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13 fields capture athlete identity, demographics, team/NOC, year, season, host city, sport, event and medal outcome.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dataset spans 1896–2016 and contains both Summer and Winter Olympic records.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Most records are from Summer Olympics (221,167); Winter records: 48,564.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Medal values include Gold, Silver, Bronze and No Medal; each row represents an athlete-event participation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02  |  Steps Performed on the Raw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77824"/>
            <a:ext cx="777240" cy="50292"/>
          </a:xfrm>
          <a:prstGeom prst="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A9B7CC"/>
                </a:solidFill>
                <a:latin typeface="Aptos"/>
              </a:defRPr>
            </a:pPr>
            <a:r>
              <a:t>A reproducible data preparation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3960" y="6510528"/>
            <a:ext cx="28346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A9B7CC"/>
                </a:solidFill>
                <a:latin typeface="Aptos"/>
              </a:defRPr>
            </a:pPr>
            <a:r>
              <a:t>INSIGHTVISTA 2026  •  03/08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19202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4C95D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17320"/>
            <a:ext cx="795527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Imported the CSV and inspected dimensions, column names and data types.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350008"/>
            <a:ext cx="502920" cy="502920"/>
          </a:xfrm>
          <a:prstGeom prst="ellipse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50008"/>
            <a:ext cx="19202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4C95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50008"/>
            <a:ext cx="795527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Checked missing values, duplicate rows and category distributions.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82696"/>
            <a:ext cx="502920" cy="502920"/>
          </a:xfrm>
          <a:prstGeom prst="ellipse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55848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82696"/>
            <a:ext cx="19202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4C95D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282696"/>
            <a:ext cx="795527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Reviewed numeric fields (Age, Height, Weight, Year) and category fields.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215384"/>
            <a:ext cx="502920" cy="502920"/>
          </a:xfrm>
          <a:prstGeom prst="ellipse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88536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15384"/>
            <a:ext cx="19202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4C95D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15384"/>
            <a:ext cx="795527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Used consistent column labels and interpreted “No Medal” as a valid outcome, not missing data.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148072"/>
            <a:ext cx="502920" cy="502920"/>
          </a:xfrm>
          <a:prstGeom prst="ellipse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21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48072"/>
            <a:ext cx="19202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4C95D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148072"/>
            <a:ext cx="795527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Grouped records by sport, year, team and medal outcome for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03  |  Final Clean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77824"/>
            <a:ext cx="777240" cy="50292"/>
          </a:xfrm>
          <a:prstGeom prst="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A9B7CC"/>
                </a:solidFill>
                <a:latin typeface="Aptos"/>
              </a:defRPr>
            </a:pPr>
            <a:r>
              <a:t>Quality checks and analytical-ready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3960" y="6510528"/>
            <a:ext cx="28346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A9B7CC"/>
                </a:solidFill>
                <a:latin typeface="Aptos"/>
              </a:defRPr>
            </a:pPr>
            <a:r>
              <a:t>INSIGHTVISTA 2026  •  04/08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331720" cy="105156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200253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ROWS RETAINED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56232"/>
            <a:ext cx="200253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269,731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2331720" cy="105156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563624"/>
            <a:ext cx="200253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MISSING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856232"/>
            <a:ext cx="200253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F4C95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417320"/>
            <a:ext cx="2331720" cy="105156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1031" y="1563624"/>
            <a:ext cx="200253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1856232"/>
            <a:ext cx="200253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2834640" cy="105156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563624"/>
            <a:ext cx="250545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MEDAL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1856232"/>
            <a:ext cx="250545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39,772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10789920" cy="3291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supplied file is already a clean dataset: all 269,731 rows have values in all 13 columns.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No exact duplicate rows were detected, so no records needed to be removed for duplication.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Numeric fields are ready for summary statistics; categorical fields are ready for grouping and comparison.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“No Medal” was preserved as a meaningful category. Medal-winning records are counted separately when needed.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Important interpretation: medal counts here are athlete-event records, not necessarily unique physical medals.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53328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43C6AC"/>
                </a:solidFill>
                <a:latin typeface="Aptos"/>
              </a:defRPr>
            </a:pPr>
            <a:r>
              <a:t>Output: a validated, analysis-ready table for dashboarding and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"/>
              </a:defRPr>
            </a:pPr>
            <a:r>
              <a:t>04  |  Visualization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58952"/>
            <a:ext cx="777240" cy="50292"/>
          </a:xfrm>
          <a:prstGeom prst="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0">
                <a:solidFill>
                  <a:srgbClr val="A9B7CC"/>
                </a:solidFill>
                <a:latin typeface="Aptos"/>
              </a:defRPr>
            </a:pPr>
            <a:r>
              <a:t>Actual Power BI dashboard provided by Analytics Squad</a:t>
            </a:r>
          </a:p>
        </p:txBody>
      </p:sp>
      <p:pic>
        <p:nvPicPr>
          <p:cNvPr id="5" name="Picture 4" descr="WhatsApp Image 2026-10-12 at 2.46.15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583" y="1207008"/>
            <a:ext cx="9230528" cy="5230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23960" y="6510528"/>
            <a:ext cx="2834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800" b="0">
                <a:solidFill>
                  <a:srgbClr val="A9B7CC"/>
                </a:solidFill>
                <a:latin typeface="Aptos"/>
              </a:defRPr>
            </a:pPr>
            <a:r>
              <a:t>INSIGHTVISTA 2026  •  05/08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05  |  Dashboard Observations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77824"/>
            <a:ext cx="777240" cy="50292"/>
          </a:xfrm>
          <a:prstGeom prst="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A9B7CC"/>
                </a:solidFill>
                <a:latin typeface="Aptos"/>
              </a:defRPr>
            </a:pPr>
            <a:r>
              <a:t>What the charts tell us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3960" y="6510528"/>
            <a:ext cx="28346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A9B7CC"/>
                </a:solidFill>
                <a:latin typeface="Aptos"/>
              </a:defRPr>
            </a:pPr>
            <a:r>
              <a:t>INSIGHTVISTA 2026  •  06/08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105156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63624"/>
            <a:ext cx="213969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UNIQUE ATHLETES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3969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134,732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468880" cy="105156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563624"/>
            <a:ext cx="213969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FEMALE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856232"/>
            <a:ext cx="213969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F4C95D"/>
                </a:solidFill>
                <a:latin typeface="Aptos"/>
              </a:defRPr>
            </a:pPr>
            <a:r>
              <a:t>27.6%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2468880" cy="105156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563624"/>
            <a:ext cx="213969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MEDAL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856232"/>
            <a:ext cx="213969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14.7%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17320"/>
            <a:ext cx="2468880" cy="1051560"/>
          </a:xfrm>
          <a:prstGeom prst="roundRect">
            <a:avLst/>
          </a:prstGeom>
          <a:solidFill>
            <a:srgbClr val="17243A"/>
          </a:solidFill>
          <a:ln>
            <a:solidFill>
              <a:srgbClr val="30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563624"/>
            <a:ext cx="2139696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9B7CC"/>
                </a:solidFill>
                <a:latin typeface="Aptos"/>
              </a:defRPr>
            </a:pPr>
            <a:r>
              <a:t>SPORTS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856232"/>
            <a:ext cx="213969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3C6AC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4640"/>
            <a:ext cx="10789920" cy="31089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Athletics has the largest record count (38,624), followed by Gymnastics and Swimming.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Most rows are “No Medal” (229,959); medal-winning rows total 39,772.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number of records varies across Olympic years; 1992 has the largest record count in this file.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Female athlete-event records account for about 27.6% of all rows, indicating a gender representation gap across the full historical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06  |  Deeper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77824"/>
            <a:ext cx="777240" cy="50292"/>
          </a:xfrm>
          <a:prstGeom prst="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A9B7CC"/>
                </a:solidFill>
                <a:latin typeface="Aptos"/>
              </a:defRPr>
            </a:pPr>
            <a:r>
              <a:t>Patterns worth investigating further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3960" y="6510528"/>
            <a:ext cx="28346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A9B7CC"/>
                </a:solidFill>
                <a:latin typeface="Aptos"/>
              </a:defRPr>
            </a:pPr>
            <a:r>
              <a:t>INSIGHTVISTA 2026  •  07/08</a:t>
            </a:r>
          </a:p>
        </p:txBody>
      </p:sp>
      <p:pic>
        <p:nvPicPr>
          <p:cNvPr id="6" name="Picture 5" descr="top_s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486400" cy="2926080"/>
          </a:xfrm>
          <a:prstGeom prst="rect">
            <a:avLst/>
          </a:prstGeom>
        </p:spPr>
      </p:pic>
      <p:pic>
        <p:nvPicPr>
          <p:cNvPr id="7" name="Picture 6" descr="med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9496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881360" cy="1600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The United States has the highest count of medal-winning athlete-event records in this dataset (5,219), followed by the Soviet Union and Germany.</a:t>
            </a:r>
          </a:p>
          <a:p>
            <a:pPr>
              <a:spcAft>
                <a:spcPts val="14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Gold (13,369), Silver (13,108) and Bronze (13,295) counts are broadly similar.</a:t>
            </a:r>
          </a:p>
          <a:p>
            <a:pPr>
              <a:spcAft>
                <a:spcPts val="14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These are historical participation records. Host city, sport popularity, gender participation and medal outcomes should be explored by year/season to avoid misleading overall comparisons.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07  |  Business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77824"/>
            <a:ext cx="777240" cy="50292"/>
          </a:xfrm>
          <a:prstGeom prst="rect">
            <a:avLst/>
          </a:prstGeom>
          <a:solidFill>
            <a:srgbClr val="43C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A9B7CC"/>
                </a:solidFill>
                <a:latin typeface="Aptos"/>
              </a:defRPr>
            </a:pPr>
            <a:r>
              <a:t>How stakeholders can use the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3960" y="6510528"/>
            <a:ext cx="28346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A9B7CC"/>
                </a:solidFill>
                <a:latin typeface="Aptos"/>
              </a:defRPr>
            </a:pPr>
            <a:r>
              <a:t>INSIGHTVISTA 2026  •  08/08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834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3C6AC"/>
                </a:solidFill>
                <a:latin typeface="Aptos"/>
              </a:defRPr>
            </a:pPr>
            <a:r>
              <a:t>01  Sponsorship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7863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Prioritize high-participation sports such as Athletics, Gymnastics and Swimming; validate audience reach before allocating budgets.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2834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3C6AC"/>
                </a:solidFill>
                <a:latin typeface="Aptos"/>
              </a:defRPr>
            </a:pPr>
            <a:r>
              <a:t>02  Athlete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313432"/>
            <a:ext cx="7863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Compare medal outcomes by sport, country and Olympic year to identify areas for coaching investment.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2834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3C6AC"/>
                </a:solidFill>
                <a:latin typeface="Aptos"/>
              </a:defRPr>
            </a:pPr>
            <a:r>
              <a:t>03  Inclusion &amp;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55264"/>
            <a:ext cx="7863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Track female participation over time and by sport to identify gaps and measure progress.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97096"/>
            <a:ext cx="2834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3C6AC"/>
                </a:solidFill>
                <a:latin typeface="Aptos"/>
              </a:defRPr>
            </a:pPr>
            <a:r>
              <a:t>04  Host-city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197096"/>
            <a:ext cx="7863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Use historical record volume by year/season to estimate staffing, venue and event-operation needs.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38928"/>
            <a:ext cx="2834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3C6AC"/>
                </a:solidFill>
                <a:latin typeface="Aptos"/>
              </a:defRPr>
            </a:pPr>
            <a:r>
              <a:t>05  Better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138928"/>
            <a:ext cx="7863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Add audience, viewership, costs, ticket sales and sponsorship revenue to connect sporting outcomes to actual business impact.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10698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4C95D"/>
                </a:solidFill>
                <a:latin typeface="Aptos"/>
              </a:defRPr>
            </a:pPr>
            <a:r>
              <a:t>Business takeaway: use this dataset to spot patterns; combine it with financial and audience data before making investment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